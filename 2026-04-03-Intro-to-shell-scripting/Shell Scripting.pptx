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  <p:embeddedFont>
      <p:font typeface="Proxima Nova Semibold"/>
      <p:regular r:id="rId27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schemas.openxmlformats.org/officeDocument/2006/relationships/font" Target="fonts/ProximaNovaSemibold-bold.fntdata"/><Relationship Id="rId27" Type="http://schemas.openxmlformats.org/officeDocument/2006/relationships/font" Target="fonts/ProximaNova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45c403d0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45c403d0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45c403d0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45c403d0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45c403d0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45c403d0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45c403d0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45c403d0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45c403d0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45c403d0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45c403d0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45c403d0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45c403d0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45c403d0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45c403d0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45c403d0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45c403d0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45c403d0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45c403d0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45c403d0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45c403d0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45c403d0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45c403d0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45c403d0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45c403d0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45c403d0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45c403d0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45c403d0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45c403d0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45c403d0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45c403d0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45c403d0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lab.com/Snyasimi/shellsc/-/blob/main/pres/inpvars.sh" TargetMode="External"/><Relationship Id="rId4" Type="http://schemas.openxmlformats.org/officeDocument/2006/relationships/hyperlink" Target="https://gitlab.com/Snyasimi/shellsc/-/blob/main/pres/if-else.sh" TargetMode="External"/><Relationship Id="rId5" Type="http://schemas.openxmlformats.org/officeDocument/2006/relationships/hyperlink" Target="https://gitlab.com/Snyasimi/shellsc/-/blob/main/pres/if-else.sh" TargetMode="External"/><Relationship Id="rId6" Type="http://schemas.openxmlformats.org/officeDocument/2006/relationships/hyperlink" Target="https://gitlab.com/Snyasimi/shellsc/-/blob/main/pres/case.sh" TargetMode="External"/><Relationship Id="rId7" Type="http://schemas.openxmlformats.org/officeDocument/2006/relationships/hyperlink" Target="https://gitlab.com/Snyasimi/shellsc/-/blob/main/pres/whilel.sh" TargetMode="External"/><Relationship Id="rId8" Type="http://schemas.openxmlformats.org/officeDocument/2006/relationships/hyperlink" Target="https://gitlab.com/Snyasimi/shellsc/-/blob/main/pres/break-cont.sh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lab.com/Snyasimi/shellsc/-/blob/main/pres/str-ops.sh" TargetMode="External"/><Relationship Id="rId4" Type="http://schemas.openxmlformats.org/officeDocument/2006/relationships/hyperlink" Target="https://gitlab.com/Snyasimi/shellsc/-/blob/main/pres/arithmetica.sh" TargetMode="External"/><Relationship Id="rId5" Type="http://schemas.openxmlformats.org/officeDocument/2006/relationships/hyperlink" Target="https://gitlab.com/Snyasimi/shellsc/-/blob/main/pres/fileops.sh" TargetMode="External"/><Relationship Id="rId6" Type="http://schemas.openxmlformats.org/officeDocument/2006/relationships/hyperlink" Target="https://gitlab.com/Snyasimi/shellsc/-/blob/main/pres/functions.sh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lab.com/Snyasimi/shellsc/-/blob/main/game.sh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 Scripting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Steve Nyasimi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What is </a:t>
            </a:r>
            <a:r>
              <a:rPr lang="en">
                <a:solidFill>
                  <a:schemeClr val="dk2"/>
                </a:solidFill>
              </a:rPr>
              <a:t>Shell </a:t>
            </a:r>
            <a:r>
              <a:rPr lang="en">
                <a:solidFill>
                  <a:schemeClr val="lt1"/>
                </a:solidFill>
              </a:rPr>
              <a:t>scripting 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10350"/>
            <a:ext cx="8520600" cy="3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For that, we’ll first need to know what a </a:t>
            </a:r>
            <a:r>
              <a:rPr lang="en" sz="2100">
                <a:solidFill>
                  <a:schemeClr val="dk2"/>
                </a:solidFill>
              </a:rPr>
              <a:t>shell </a:t>
            </a:r>
            <a:r>
              <a:rPr lang="en" sz="2100">
                <a:solidFill>
                  <a:schemeClr val="lt1"/>
                </a:solidFill>
              </a:rPr>
              <a:t>is.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There are different types of shells, such as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OIP-173034869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75" y="2343150"/>
            <a:ext cx="2528275" cy="16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599999" y="4098475"/>
            <a:ext cx="252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The Philly Shell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713350" y="4098475"/>
            <a:ext cx="293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Linux command line 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0" name="Google Shape;70;p14" title="Bash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4367" y="2274100"/>
            <a:ext cx="2551670" cy="17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solidFill>
                  <a:schemeClr val="lt1"/>
                </a:solidFill>
              </a:rPr>
              <a:t>The</a:t>
            </a:r>
            <a:r>
              <a:rPr lang="en" sz="2620">
                <a:solidFill>
                  <a:schemeClr val="dk2"/>
                </a:solidFill>
              </a:rPr>
              <a:t> Shell</a:t>
            </a:r>
            <a:endParaRPr sz="262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The </a:t>
            </a:r>
            <a:r>
              <a:rPr lang="en" sz="2100">
                <a:solidFill>
                  <a:schemeClr val="dk2"/>
                </a:solidFill>
              </a:rPr>
              <a:t>Uni</a:t>
            </a:r>
            <a:r>
              <a:rPr lang="en" sz="2100">
                <a:solidFill>
                  <a:schemeClr val="dk2"/>
                </a:solidFill>
              </a:rPr>
              <a:t>x Shell</a:t>
            </a:r>
            <a:r>
              <a:rPr lang="en" sz="2100">
                <a:solidFill>
                  <a:schemeClr val="lt1"/>
                </a:solidFill>
              </a:rPr>
              <a:t> is a command line user interface between the user and the operating system. It server both as an </a:t>
            </a:r>
            <a:r>
              <a:rPr lang="en" sz="2100">
                <a:solidFill>
                  <a:schemeClr val="dk2"/>
                </a:solidFill>
              </a:rPr>
              <a:t>command interpreter</a:t>
            </a:r>
            <a:r>
              <a:rPr lang="en" sz="2100">
                <a:solidFill>
                  <a:schemeClr val="lt1"/>
                </a:solidFill>
              </a:rPr>
              <a:t> and a </a:t>
            </a:r>
            <a:r>
              <a:rPr lang="en" sz="2100">
                <a:solidFill>
                  <a:schemeClr val="dk2"/>
                </a:solidFill>
              </a:rPr>
              <a:t>programming language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In simple terms, The shell is what you type stuff into and everyone in the cafe thinks you’re a hacking them.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</a:t>
            </a:r>
            <a:r>
              <a:rPr lang="en">
                <a:solidFill>
                  <a:schemeClr val="dk2"/>
                </a:solidFill>
              </a:rPr>
              <a:t>shell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Below</a:t>
            </a:r>
            <a:r>
              <a:rPr lang="en">
                <a:solidFill>
                  <a:schemeClr val="lt1"/>
                </a:solidFill>
              </a:rPr>
              <a:t> is an example of how the shell works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You type in commands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The OS/Kernel executes if for you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You get output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350" y="2728400"/>
            <a:ext cx="6266775" cy="16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Shell </a:t>
            </a:r>
            <a:r>
              <a:rPr lang="en">
                <a:solidFill>
                  <a:schemeClr val="dk2"/>
                </a:solidFill>
              </a:rPr>
              <a:t>Scripting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A </a:t>
            </a:r>
            <a:r>
              <a:rPr lang="en" sz="2100">
                <a:solidFill>
                  <a:schemeClr val="dk2"/>
                </a:solidFill>
              </a:rPr>
              <a:t>Shell script</a:t>
            </a:r>
            <a:r>
              <a:rPr lang="en" sz="2100">
                <a:solidFill>
                  <a:schemeClr val="lt1"/>
                </a:solidFill>
              </a:rPr>
              <a:t> is a file containing shell commands, These commands can be written in such a way that if run them in a terminal/shell,  you can achieve a desired goal or solve a specific repetitive issue.</a:t>
            </a:r>
            <a:br>
              <a:rPr lang="en" sz="2100">
                <a:solidFill>
                  <a:schemeClr val="lt1"/>
                </a:solidFill>
              </a:rPr>
            </a:br>
            <a:br>
              <a:rPr lang="en" sz="2100">
                <a:solidFill>
                  <a:schemeClr val="lt1"/>
                </a:solidFill>
              </a:rPr>
            </a:br>
            <a:r>
              <a:rPr lang="en" sz="2100">
                <a:solidFill>
                  <a:schemeClr val="lt1"/>
                </a:solidFill>
              </a:rPr>
              <a:t>Just like software :)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Why we need it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As you have seen, the shell allows us to type commands and give it arguments, now say we had one like this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cat /var/log/auth.log.1 /var/log/auth.log | grep -e 'auth\|authentication\|root\|Failed password' </a:t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Long.</a:t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Now, let’s say we needed to filter the input repeatedly to get our desired result, which os to get all failed password attempts for the sudo user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Our command mutates to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</a:rPr>
              <a:t>$ cat /var/log/auth.log.1 /var/log/auth.log | grep -e 'auth\|authentication\|root\|Failed password' | grep "sudo"</a:t>
            </a:r>
            <a:br>
              <a:rPr b="1" lang="en" sz="2100">
                <a:solidFill>
                  <a:schemeClr val="lt1"/>
                </a:solidFill>
              </a:rPr>
            </a:b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There’s more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More????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Yes.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</a:rPr>
              <a:t>cat /var/log/auth.log.1 /var/log/auth.log | grep -e 'auth\|authentication\|root\|Failed password' | grep "sudo" | grep -i "COMMAND"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Bruh, you know what…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man sitting at a desk with a dell computer (Provided by Tenor)"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57862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Structure of a shell script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75" y="1176313"/>
            <a:ext cx="7918850" cy="33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Structure of a shell script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What is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“/#! /bin/bash”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Structure of a shell script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Bash’s The scripting language allows for the </a:t>
            </a:r>
            <a:r>
              <a:rPr lang="en" sz="2100">
                <a:solidFill>
                  <a:schemeClr val="lt1"/>
                </a:solidFill>
              </a:rPr>
              <a:t>following control structures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2100">
                <a:solidFill>
                  <a:schemeClr val="lt1"/>
                </a:solidFill>
              </a:rPr>
              <a:t>Input &amp; vars</a:t>
            </a:r>
            <a:endParaRPr sz="2100">
              <a:solidFill>
                <a:schemeClr val="lt1"/>
              </a:solidFill>
            </a:endParaRPr>
          </a:p>
          <a:p>
            <a:pPr indent="-311944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2100">
                <a:solidFill>
                  <a:schemeClr val="lt1"/>
                </a:solidFill>
              </a:rPr>
              <a:t>Example code can be found </a:t>
            </a:r>
            <a:r>
              <a:rPr lang="en" sz="2100" u="sng">
                <a:solidFill>
                  <a:schemeClr val="hlink"/>
                </a:solidFill>
                <a:hlinkClick r:id="rId3"/>
              </a:rPr>
              <a:t>here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2100">
                <a:solidFill>
                  <a:schemeClr val="lt1"/>
                </a:solidFill>
              </a:rPr>
              <a:t>If..statements</a:t>
            </a:r>
            <a:endParaRPr sz="2100">
              <a:solidFill>
                <a:schemeClr val="lt1"/>
              </a:solidFill>
            </a:endParaRPr>
          </a:p>
          <a:p>
            <a:pPr indent="-311944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2100">
                <a:solidFill>
                  <a:schemeClr val="lt1"/>
                </a:solidFill>
              </a:rPr>
              <a:t>Example can be found </a:t>
            </a:r>
            <a:r>
              <a:rPr lang="en" sz="2100" u="sng">
                <a:solidFill>
                  <a:schemeClr val="hlink"/>
                </a:solidFill>
                <a:hlinkClick r:id="rId4"/>
              </a:rPr>
              <a:t>here</a:t>
            </a:r>
            <a:r>
              <a:rPr lang="en" sz="2100">
                <a:solidFill>
                  <a:schemeClr val="lt1"/>
                </a:solidFill>
              </a:rPr>
              <a:t> 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2100">
                <a:solidFill>
                  <a:schemeClr val="lt1"/>
                </a:solidFill>
              </a:rPr>
              <a:t>If…else (elif)</a:t>
            </a:r>
            <a:endParaRPr sz="2100">
              <a:solidFill>
                <a:schemeClr val="lt1"/>
              </a:solidFill>
            </a:endParaRPr>
          </a:p>
          <a:p>
            <a:pPr indent="-311944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2100">
                <a:solidFill>
                  <a:schemeClr val="lt1"/>
                </a:solidFill>
              </a:rPr>
              <a:t>Examples code can be found </a:t>
            </a:r>
            <a:r>
              <a:rPr lang="en" sz="21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2100">
                <a:solidFill>
                  <a:schemeClr val="lt1"/>
                </a:solidFill>
              </a:rPr>
              <a:t> 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2100">
                <a:solidFill>
                  <a:schemeClr val="lt1"/>
                </a:solidFill>
              </a:rPr>
              <a:t>Switch case statements</a:t>
            </a:r>
            <a:r>
              <a:rPr lang="en" sz="2100">
                <a:solidFill>
                  <a:schemeClr val="lt1"/>
                </a:solidFill>
              </a:rPr>
              <a:t> </a:t>
            </a:r>
            <a:endParaRPr sz="2100">
              <a:solidFill>
                <a:schemeClr val="lt1"/>
              </a:solidFill>
            </a:endParaRPr>
          </a:p>
          <a:p>
            <a:pPr indent="-311944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2100">
                <a:solidFill>
                  <a:schemeClr val="lt1"/>
                </a:solidFill>
              </a:rPr>
              <a:t>Example code can be found </a:t>
            </a:r>
            <a:r>
              <a:rPr lang="en" sz="2100" u="sng">
                <a:solidFill>
                  <a:schemeClr val="hlink"/>
                </a:solidFill>
                <a:hlinkClick r:id="rId6"/>
              </a:rPr>
              <a:t>here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2100">
                <a:solidFill>
                  <a:schemeClr val="lt1"/>
                </a:solidFill>
              </a:rPr>
              <a:t>For, while and  until loops</a:t>
            </a:r>
            <a:endParaRPr sz="2100">
              <a:solidFill>
                <a:schemeClr val="lt1"/>
              </a:solidFill>
            </a:endParaRPr>
          </a:p>
          <a:p>
            <a:pPr indent="-311944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2100">
                <a:solidFill>
                  <a:schemeClr val="lt1"/>
                </a:solidFill>
              </a:rPr>
              <a:t>Example code can be found </a:t>
            </a:r>
            <a:r>
              <a:rPr lang="en" sz="2100" u="sng">
                <a:solidFill>
                  <a:schemeClr val="hlink"/>
                </a:solidFill>
                <a:hlinkClick r:id="rId7"/>
              </a:rPr>
              <a:t>here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2100">
                <a:solidFill>
                  <a:schemeClr val="lt1"/>
                </a:solidFill>
              </a:rPr>
              <a:t>Break, continue, exit and return</a:t>
            </a:r>
            <a:endParaRPr sz="2100">
              <a:solidFill>
                <a:schemeClr val="lt1"/>
              </a:solidFill>
            </a:endParaRPr>
          </a:p>
          <a:p>
            <a:pPr indent="-311944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2100">
                <a:solidFill>
                  <a:schemeClr val="lt1"/>
                </a:solidFill>
              </a:rPr>
              <a:t>Example code can be found </a:t>
            </a:r>
            <a:r>
              <a:rPr lang="en" sz="2100" u="sng">
                <a:solidFill>
                  <a:schemeClr val="hlink"/>
                </a:solidFill>
                <a:hlinkClick r:id="rId8"/>
              </a:rPr>
              <a:t>here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Feel free to check out the repo, if you want to modify the game, feel free.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Features</a:t>
            </a:r>
            <a:r>
              <a:rPr lang="en">
                <a:solidFill>
                  <a:schemeClr val="lt1"/>
                </a:solidFill>
              </a:rPr>
              <a:t> of a shell script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Some of its features also include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String manipulation and operations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Example can be found </a:t>
            </a:r>
            <a:r>
              <a:rPr lang="en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Arithmentic operations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Examples can be found </a:t>
            </a:r>
            <a:r>
              <a:rPr lang="en" u="sng">
                <a:solidFill>
                  <a:schemeClr val="hlink"/>
                </a:solidFill>
                <a:hlinkClick r:id="rId4"/>
              </a:rPr>
              <a:t>here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File operations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Examples can be found </a:t>
            </a:r>
            <a:r>
              <a:rPr lang="en" u="sng">
                <a:solidFill>
                  <a:schemeClr val="hlink"/>
                </a:solidFill>
                <a:hlinkClick r:id="rId5"/>
              </a:rPr>
              <a:t>here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Functions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Examples can be found </a:t>
            </a:r>
            <a:r>
              <a:rPr lang="en" u="sng">
                <a:solidFill>
                  <a:schemeClr val="hlink"/>
                </a:solidFill>
                <a:hlinkClick r:id="rId6"/>
              </a:rPr>
              <a:t>here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Script parameters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Enviromental variables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Can be set to run automatically using cronjobs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Our original command, but with a little magic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We can create a script that extracts and reads all the log files, filters the output and saves it to a file and add a few modifications to it to include any compressed file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 title="Screenshot from 2026-04-03 15-40-2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1078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 game using shell script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The buggy land game, it’s an adventure game.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Where the number of steps you take </a:t>
            </a:r>
            <a:r>
              <a:rPr lang="en" sz="2100">
                <a:solidFill>
                  <a:schemeClr val="lt1"/>
                </a:solidFill>
              </a:rPr>
              <a:t>determine</a:t>
            </a:r>
            <a:r>
              <a:rPr lang="en" sz="2100">
                <a:solidFill>
                  <a:schemeClr val="lt1"/>
                </a:solidFill>
              </a:rPr>
              <a:t> your story.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Nuff chat, lets debug…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Here’s the </a:t>
            </a:r>
            <a:r>
              <a:rPr lang="en" sz="2100" u="sng">
                <a:solidFill>
                  <a:schemeClr val="hlink"/>
                </a:solidFill>
                <a:hlinkClick r:id="rId3"/>
              </a:rPr>
              <a:t>game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Rules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2100">
                <a:solidFill>
                  <a:schemeClr val="lt1"/>
                </a:solidFill>
              </a:rPr>
              <a:t>Can move forward when out come of dice is an even </a:t>
            </a:r>
            <a:r>
              <a:rPr lang="en" sz="2100">
                <a:solidFill>
                  <a:schemeClr val="lt1"/>
                </a:solidFill>
              </a:rPr>
              <a:t>number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2100">
                <a:solidFill>
                  <a:schemeClr val="lt1"/>
                </a:solidFill>
              </a:rPr>
              <a:t>Cannot play more than 4 times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2100">
                <a:solidFill>
                  <a:schemeClr val="lt1"/>
                </a:solidFill>
              </a:rPr>
              <a:t>Even numbers have consequences, some deduct 25% health others 12.5%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2100">
                <a:solidFill>
                  <a:schemeClr val="lt1"/>
                </a:solidFill>
              </a:rPr>
              <a:t>Win on 10&gt;</a:t>
            </a:r>
            <a:endParaRPr sz="2100">
              <a:solidFill>
                <a:schemeClr val="lt1"/>
              </a:solidFill>
            </a:endParaRPr>
          </a:p>
          <a:p>
            <a:pPr indent="-31194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2100">
                <a:solidFill>
                  <a:schemeClr val="lt1"/>
                </a:solidFill>
              </a:rPr>
              <a:t> 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Thank you for listening to my presentation </a:t>
            </a:r>
            <a:endParaRPr sz="2100">
              <a:solidFill>
                <a:schemeClr val="lt1"/>
              </a:solidFill>
            </a:endParaRPr>
          </a:p>
        </p:txBody>
      </p:sp>
      <p:pic>
        <p:nvPicPr>
          <p:cNvPr id="165" name="Google Shape;165;p29" title="canv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325" y="1916325"/>
            <a:ext cx="2488000" cy="248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n with long hair and a beard is giving a thumbs up and saying `` many thanks '' . (Provided by Tenor)" id="166" name="Google Shape;16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8500" y="1916323"/>
            <a:ext cx="2488001" cy="248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